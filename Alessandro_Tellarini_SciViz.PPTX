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2"/>
  </p:notesMasterIdLst>
  <p:sldIdLst>
    <p:sldId id="256" r:id="rId2"/>
    <p:sldId id="258" r:id="rId3"/>
    <p:sldId id="259" r:id="rId4"/>
    <p:sldId id="260" r:id="rId5"/>
    <p:sldId id="269" r:id="rId6"/>
    <p:sldId id="266" r:id="rId7"/>
    <p:sldId id="267" r:id="rId8"/>
    <p:sldId id="263" r:id="rId9"/>
    <p:sldId id="261" r:id="rId10"/>
    <p:sldId id="264" r:id="rId11"/>
    <p:sldId id="265" r:id="rId12"/>
    <p:sldId id="268" r:id="rId13"/>
    <p:sldId id="270" r:id="rId14"/>
    <p:sldId id="271" r:id="rId15"/>
    <p:sldId id="272" r:id="rId16"/>
    <p:sldId id="273" r:id="rId17"/>
    <p:sldId id="283" r:id="rId18"/>
    <p:sldId id="284" r:id="rId19"/>
    <p:sldId id="274" r:id="rId20"/>
    <p:sldId id="285" r:id="rId21"/>
    <p:sldId id="286" r:id="rId22"/>
    <p:sldId id="275" r:id="rId23"/>
    <p:sldId id="277" r:id="rId24"/>
    <p:sldId id="276" r:id="rId25"/>
    <p:sldId id="278" r:id="rId26"/>
    <p:sldId id="279" r:id="rId27"/>
    <p:sldId id="280" r:id="rId28"/>
    <p:sldId id="281" r:id="rId29"/>
    <p:sldId id="282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3F300-B32D-4C2F-BE85-5E5911459D48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57C94-C3EB-459A-8396-8B0CE39A51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85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57C94-C3EB-459A-8396-8B0CE39A51C3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25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D57C94-C3EB-459A-8396-8B0CE39A51C3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7891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99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803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952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2169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966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023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112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133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474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205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922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7554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782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3215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5672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06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3C699D8-55A8-46A9-9698-86DD56F23C99}" type="datetimeFigureOut">
              <a:rPr lang="it-IT" smtClean="0"/>
              <a:t>31/05/2022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86EC108-4DBD-4369-9CFE-2F1C704C201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6762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9F4528-CECA-945B-3AA7-B7E9BD5A4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889685"/>
            <a:ext cx="9440034" cy="1828801"/>
          </a:xfrm>
        </p:spPr>
        <p:txBody>
          <a:bodyPr>
            <a:normAutofit/>
          </a:bodyPr>
          <a:lstStyle/>
          <a:p>
            <a:r>
              <a:rPr lang="it-IT" sz="6000" dirty="0">
                <a:latin typeface="Algerian" panose="04020705040A02060702" pitchFamily="82" charset="0"/>
              </a:rPr>
              <a:t>Streaming wars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sz="2800" dirty="0">
                <a:latin typeface="Algerian" panose="04020705040A02060702" pitchFamily="82" charset="0"/>
              </a:rPr>
              <a:t>guerra all’ultimo iscritto</a:t>
            </a:r>
            <a:endParaRPr lang="it-IT" dirty="0">
              <a:latin typeface="Algerian" panose="04020705040A02060702" pitchFamily="82" charset="0"/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C3246EE-64C5-578E-2918-AE9525A51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766289"/>
            <a:ext cx="9440034" cy="1049867"/>
          </a:xfrm>
        </p:spPr>
        <p:txBody>
          <a:bodyPr/>
          <a:lstStyle/>
          <a:p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Alessandro Tellarini 975490</a:t>
            </a:r>
          </a:p>
        </p:txBody>
      </p:sp>
    </p:spTree>
    <p:extLst>
      <p:ext uri="{BB962C8B-B14F-4D97-AF65-F5344CB8AC3E}">
        <p14:creationId xmlns:p14="http://schemas.microsoft.com/office/powerpoint/2010/main" val="1712298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49554C-E3F5-9AC2-F276-9AA1A2DAD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665825"/>
            <a:ext cx="9440034" cy="926162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domanda: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975E38-21EA-5764-FCEF-53C938C55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2004253"/>
            <a:ext cx="9440034" cy="1049867"/>
          </a:xfrm>
        </p:spPr>
        <p:txBody>
          <a:bodyPr>
            <a:normAutofit/>
          </a:bodyPr>
          <a:lstStyle/>
          <a:p>
            <a:r>
              <a:rPr lang="it-IT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Ha senso interessarsi a questo argomento?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1987B94-A8E0-D770-426F-4F14D9C74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589" y="3153748"/>
            <a:ext cx="2598242" cy="240028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2974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205BCC-F936-320E-6004-B5ABE557D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83473"/>
            <a:ext cx="10353762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Un’industria da miliardi di dollari!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FCED921-669E-A92E-DD20-913D1CF5A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82" y="1421026"/>
            <a:ext cx="9865236" cy="5050796"/>
          </a:xfrm>
        </p:spPr>
      </p:pic>
    </p:spTree>
    <p:extLst>
      <p:ext uri="{BB962C8B-B14F-4D97-AF65-F5344CB8AC3E}">
        <p14:creationId xmlns:p14="http://schemas.microsoft.com/office/powerpoint/2010/main" val="196557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721AC1-DA44-0CE8-E964-B25CA2C5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0206"/>
            <a:ext cx="10353762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Chi sono i protagonisti?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9615AE6-BF93-B3A2-9A40-73F150F54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98" y="1242698"/>
            <a:ext cx="10196204" cy="5220245"/>
          </a:xfrm>
        </p:spPr>
      </p:pic>
    </p:spTree>
    <p:extLst>
      <p:ext uri="{BB962C8B-B14F-4D97-AF65-F5344CB8AC3E}">
        <p14:creationId xmlns:p14="http://schemas.microsoft.com/office/powerpoint/2010/main" val="34228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7DB45E-4347-8EF1-3CB8-5B520980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931" y="609600"/>
            <a:ext cx="10246625" cy="908482"/>
          </a:xfrm>
        </p:spPr>
        <p:txBody>
          <a:bodyPr>
            <a:noAutofit/>
          </a:bodyPr>
          <a:lstStyle/>
          <a:p>
            <a:r>
              <a:rPr lang="it-IT" sz="5400" dirty="0">
                <a:latin typeface="Algerian" panose="04020705040A02060702" pitchFamily="82" charset="0"/>
              </a:rPr>
              <a:t>Parliamo di quantità!</a:t>
            </a:r>
          </a:p>
        </p:txBody>
      </p:sp>
      <p:pic>
        <p:nvPicPr>
          <p:cNvPr id="4" name="Elemento grafico 3" descr="Grafico a barre con riempimento a tinta unita">
            <a:extLst>
              <a:ext uri="{FF2B5EF4-FFF2-40B4-BE49-F238E27FC236}">
                <a16:creationId xmlns:a16="http://schemas.microsoft.com/office/drawing/2014/main" id="{15743D73-852C-55D1-19C2-18812CA4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6246" y="1989156"/>
            <a:ext cx="3679507" cy="367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6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21D86C-5ACA-141F-EB51-56F270C0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485107"/>
            <a:ext cx="10353762" cy="970450"/>
          </a:xfrm>
        </p:spPr>
        <p:txBody>
          <a:bodyPr>
            <a:normAutofit/>
          </a:bodyPr>
          <a:lstStyle/>
          <a:p>
            <a:r>
              <a:rPr lang="it-IT" dirty="0">
                <a:latin typeface="Algerian" panose="04020705040A02060702" pitchFamily="82" charset="0"/>
              </a:rPr>
              <a:t>Quale servizio ha più offerta?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3DBB09EB-6877-016C-3D93-4E592FAED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56" y="1820739"/>
            <a:ext cx="10891887" cy="4472255"/>
          </a:xfrm>
        </p:spPr>
      </p:pic>
    </p:spTree>
    <p:extLst>
      <p:ext uri="{BB962C8B-B14F-4D97-AF65-F5344CB8AC3E}">
        <p14:creationId xmlns:p14="http://schemas.microsoft.com/office/powerpoint/2010/main" val="274788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71B18C-C46E-B9B0-9E68-70EAED00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>
                <a:latin typeface="Algerian" panose="04020705040A02060702" pitchFamily="82" charset="0"/>
              </a:rPr>
              <a:t>…e quale ha un’offerta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dirty="0">
                <a:latin typeface="Algerian" panose="04020705040A02060702" pitchFamily="82" charset="0"/>
              </a:rPr>
              <a:t>più esclusiva?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12FE551-1E39-1709-1C13-BE76ED232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98" y="1856250"/>
            <a:ext cx="10881555" cy="4473528"/>
          </a:xfrm>
        </p:spPr>
      </p:pic>
    </p:spTree>
    <p:extLst>
      <p:ext uri="{BB962C8B-B14F-4D97-AF65-F5344CB8AC3E}">
        <p14:creationId xmlns:p14="http://schemas.microsoft.com/office/powerpoint/2010/main" val="30667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F68CAB-6F1F-4D2E-2815-E94CE7358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24" y="633893"/>
            <a:ext cx="9744150" cy="1941325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Che genere di contenuti offrono?</a:t>
            </a:r>
          </a:p>
        </p:txBody>
      </p:sp>
      <p:pic>
        <p:nvPicPr>
          <p:cNvPr id="5" name="Immagine 4" descr="Immagine che contiene volante, trasporto, ingranaggio&#10;&#10;Descrizione generata automaticamente">
            <a:extLst>
              <a:ext uri="{FF2B5EF4-FFF2-40B4-BE49-F238E27FC236}">
                <a16:creationId xmlns:a16="http://schemas.microsoft.com/office/drawing/2014/main" id="{348C8458-E2FB-2156-E9A0-1818694B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469" y="3591062"/>
            <a:ext cx="6857061" cy="13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5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430E5-A861-941B-8426-DB2110E1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6737"/>
            <a:ext cx="6110850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Netflix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14DF0175-97EF-CE7C-7209-9D1A0D8F4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394611"/>
            <a:ext cx="6110850" cy="4730981"/>
          </a:xfrm>
        </p:spPr>
      </p:pic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D7626445-3B43-88B8-BD31-3510CB2EE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099980"/>
              </p:ext>
            </p:extLst>
          </p:nvPr>
        </p:nvGraphicFramePr>
        <p:xfrm>
          <a:off x="7500644" y="1132013"/>
          <a:ext cx="4226758" cy="52561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3379">
                  <a:extLst>
                    <a:ext uri="{9D8B030D-6E8A-4147-A177-3AD203B41FA5}">
                      <a16:colId xmlns:a16="http://schemas.microsoft.com/office/drawing/2014/main" val="2907017904"/>
                    </a:ext>
                  </a:extLst>
                </a:gridCol>
                <a:gridCol w="2113379">
                  <a:extLst>
                    <a:ext uri="{9D8B030D-6E8A-4147-A177-3AD203B41FA5}">
                      <a16:colId xmlns:a16="http://schemas.microsoft.com/office/drawing/2014/main" val="4057102982"/>
                    </a:ext>
                  </a:extLst>
                </a:gridCol>
              </a:tblGrid>
              <a:tr h="321994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Genere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Percentuale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483343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Drammatico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17,0%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729006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Commedia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13,4%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842401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Per bambini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11,8%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28061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Romantico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10,4%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67478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Documentario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9,9%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8912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Azione/Avventura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8,8%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018698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Thriller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5,0%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119762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Altro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4,6%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89816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 err="1"/>
                        <a:t>Docuserie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4,5%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423499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Stand-up 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4,5%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280120"/>
                  </a:ext>
                </a:extLst>
              </a:tr>
              <a:tr h="321994">
                <a:tc>
                  <a:txBody>
                    <a:bodyPr/>
                    <a:lstStyle/>
                    <a:p>
                      <a:r>
                        <a:rPr lang="it-IT" dirty="0"/>
                        <a:t>Horror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4,1%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198632"/>
                  </a:ext>
                </a:extLst>
              </a:tr>
              <a:tr h="433528">
                <a:tc>
                  <a:txBody>
                    <a:bodyPr/>
                    <a:lstStyle/>
                    <a:p>
                      <a:r>
                        <a:rPr lang="it-IT" dirty="0"/>
                        <a:t>Fantascienza/Fant.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3,2%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190656"/>
                  </a:ext>
                </a:extLst>
              </a:tr>
              <a:tr h="433528">
                <a:tc>
                  <a:txBody>
                    <a:bodyPr/>
                    <a:lstStyle/>
                    <a:p>
                      <a:r>
                        <a:rPr lang="it-IT" dirty="0"/>
                        <a:t>Anime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2,8%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300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061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430E5-A861-941B-8426-DB2110E1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11282"/>
            <a:ext cx="6241607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Amazon Prime video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9107E3A0-4B31-6CBA-7BA8-E8DF5404F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516837"/>
            <a:ext cx="6241607" cy="4644656"/>
          </a:xfrm>
        </p:spPr>
      </p:pic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F032239F-BB43-C6A6-0837-E9B44F49C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66638"/>
              </p:ext>
            </p:extLst>
          </p:nvPr>
        </p:nvGraphicFramePr>
        <p:xfrm>
          <a:off x="7634795" y="450829"/>
          <a:ext cx="4181384" cy="59563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90692">
                  <a:extLst>
                    <a:ext uri="{9D8B030D-6E8A-4147-A177-3AD203B41FA5}">
                      <a16:colId xmlns:a16="http://schemas.microsoft.com/office/drawing/2014/main" val="1579916430"/>
                    </a:ext>
                  </a:extLst>
                </a:gridCol>
                <a:gridCol w="2090692">
                  <a:extLst>
                    <a:ext uri="{9D8B030D-6E8A-4147-A177-3AD203B41FA5}">
                      <a16:colId xmlns:a16="http://schemas.microsoft.com/office/drawing/2014/main" val="871085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Genere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Percentuale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52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Commedia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14,4%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5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Azione/Avventura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14,3%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507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Drammatico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13,3%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94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Per bambini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10,7%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58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Documentario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10,3%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Thriller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7,6%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67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Horror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7,0%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703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Altro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6,1%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499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Romantico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5,6%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033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Fantascienza/Fant.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4,7%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415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Western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2,4%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312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Musica e concerti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1,3%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724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Fitness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0,9%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39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Anime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0,8%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123362"/>
                  </a:ext>
                </a:extLst>
              </a:tr>
              <a:tr h="393742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Animazione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0,6%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994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257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430E5-A861-941B-8426-DB2110E1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41" y="359633"/>
            <a:ext cx="6543448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Disney+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F6BE4B48-86CB-D183-5019-B1C207523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1" y="1476815"/>
            <a:ext cx="6543448" cy="4536327"/>
          </a:xfrm>
        </p:spPr>
      </p:pic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2518AE58-93DF-CB69-77A1-2D48E8BA2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18854"/>
              </p:ext>
            </p:extLst>
          </p:nvPr>
        </p:nvGraphicFramePr>
        <p:xfrm>
          <a:off x="7714694" y="1408874"/>
          <a:ext cx="4216894" cy="46722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95131">
                  <a:extLst>
                    <a:ext uri="{9D8B030D-6E8A-4147-A177-3AD203B41FA5}">
                      <a16:colId xmlns:a16="http://schemas.microsoft.com/office/drawing/2014/main" val="1809534342"/>
                    </a:ext>
                  </a:extLst>
                </a:gridCol>
                <a:gridCol w="2121763">
                  <a:extLst>
                    <a:ext uri="{9D8B030D-6E8A-4147-A177-3AD203B41FA5}">
                      <a16:colId xmlns:a16="http://schemas.microsoft.com/office/drawing/2014/main" val="3342657705"/>
                    </a:ext>
                  </a:extLst>
                </a:gridCol>
              </a:tblGrid>
              <a:tr h="377812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Genere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Percentuale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14277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Animazione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30,0%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87124"/>
                  </a:ext>
                </a:extLst>
              </a:tr>
              <a:tr h="448146">
                <a:tc>
                  <a:txBody>
                    <a:bodyPr/>
                    <a:lstStyle/>
                    <a:p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Azione/Avventura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13,7%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291576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Documentario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12,0%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325187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/>
                        <a:t>Per bambini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11,1%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55254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/>
                        <a:t>Commedia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9,5%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29659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 err="1"/>
                        <a:t>Docuserie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8,4%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533311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/>
                        <a:t>Fantascienza/Fant.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6,9%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1346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/>
                        <a:t>Drammatico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4,8%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26163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/>
                        <a:t>Altro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2,5%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585156"/>
                  </a:ext>
                </a:extLst>
              </a:tr>
              <a:tr h="427361">
                <a:tc>
                  <a:txBody>
                    <a:bodyPr/>
                    <a:lstStyle/>
                    <a:p>
                      <a:r>
                        <a:rPr lang="it-IT" dirty="0"/>
                        <a:t>Romantico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1,2%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4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785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C806AE-1289-15D1-16DB-8763CFE1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8982"/>
            <a:ext cx="10353762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Differenze in punti percentuale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1A2AEA82-DB64-3DB5-9E8B-DC122CED9B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252270"/>
              </p:ext>
            </p:extLst>
          </p:nvPr>
        </p:nvGraphicFramePr>
        <p:xfrm>
          <a:off x="701932" y="1334281"/>
          <a:ext cx="10777488" cy="41894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94372">
                  <a:extLst>
                    <a:ext uri="{9D8B030D-6E8A-4147-A177-3AD203B41FA5}">
                      <a16:colId xmlns:a16="http://schemas.microsoft.com/office/drawing/2014/main" val="1329470348"/>
                    </a:ext>
                  </a:extLst>
                </a:gridCol>
                <a:gridCol w="2679576">
                  <a:extLst>
                    <a:ext uri="{9D8B030D-6E8A-4147-A177-3AD203B41FA5}">
                      <a16:colId xmlns:a16="http://schemas.microsoft.com/office/drawing/2014/main" val="1199881491"/>
                    </a:ext>
                  </a:extLst>
                </a:gridCol>
                <a:gridCol w="2698812">
                  <a:extLst>
                    <a:ext uri="{9D8B030D-6E8A-4147-A177-3AD203B41FA5}">
                      <a16:colId xmlns:a16="http://schemas.microsoft.com/office/drawing/2014/main" val="1987727568"/>
                    </a:ext>
                  </a:extLst>
                </a:gridCol>
                <a:gridCol w="2704728">
                  <a:extLst>
                    <a:ext uri="{9D8B030D-6E8A-4147-A177-3AD203B41FA5}">
                      <a16:colId xmlns:a16="http://schemas.microsoft.com/office/drawing/2014/main" val="4109893638"/>
                    </a:ext>
                  </a:extLst>
                </a:gridCol>
              </a:tblGrid>
              <a:tr h="380858"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Netflix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Amazon 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Disney+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463495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Commedia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+3,9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52851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Drammatico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+3,7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744694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Azione/Avventura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+0,6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+4,9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339302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Fantascienza/Fant.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+2,2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443168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Thriller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+5,0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+2,6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51393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Horror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+4,1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+2,9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505958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r>
                        <a:rPr lang="it-IT" dirty="0"/>
                        <a:t>Romantico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+4,8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+4,4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591927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Documentario/</a:t>
                      </a:r>
                      <a:r>
                        <a:rPr lang="it-IT" dirty="0" err="1"/>
                        <a:t>Docuserie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+6,0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365065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Animazione (tutto)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+27,2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501739"/>
                  </a:ext>
                </a:extLst>
              </a:tr>
              <a:tr h="380858"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Per bambini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>
                          <a:highlight>
                            <a:srgbClr val="FFFF00"/>
                          </a:highlight>
                        </a:rPr>
                        <a:t>+0,7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dirty="0"/>
                        <a:t>+0,4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37826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263B94-BB1E-1B30-D864-EFFF844EAD0E}"/>
              </a:ext>
            </a:extLst>
          </p:cNvPr>
          <p:cNvSpPr txBox="1"/>
          <p:nvPr/>
        </p:nvSpPr>
        <p:spPr>
          <a:xfrm>
            <a:off x="701932" y="5885895"/>
            <a:ext cx="10777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Per ogni genere principale: è evidenziato in giallo il servizio con la percentuale maggiore</a:t>
            </a:r>
          </a:p>
          <a:p>
            <a:pPr algn="ctr"/>
            <a:r>
              <a:rPr lang="it-IT" dirty="0">
                <a:latin typeface="Verdana" panose="020B0604030504040204" pitchFamily="34" charset="0"/>
                <a:ea typeface="Verdana" panose="020B0604030504040204" pitchFamily="34" charset="0"/>
              </a:rPr>
              <a:t>ed è segnato il distacco tra primo e secondo classificato, e tra secondo e terzo</a:t>
            </a:r>
          </a:p>
        </p:txBody>
      </p:sp>
    </p:spTree>
    <p:extLst>
      <p:ext uri="{BB962C8B-B14F-4D97-AF65-F5344CB8AC3E}">
        <p14:creationId xmlns:p14="http://schemas.microsoft.com/office/powerpoint/2010/main" val="93323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6CA037-B21E-78A9-CE6E-486EF54E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24" y="192349"/>
            <a:ext cx="11310151" cy="1956047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Algerian" panose="04020705040A02060702" pitchFamily="82" charset="0"/>
              </a:rPr>
              <a:t>Tempi e tempistiche</a:t>
            </a:r>
          </a:p>
        </p:txBody>
      </p:sp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14055B87-42A8-8574-6EF7-76F052D9E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343" y="2304268"/>
            <a:ext cx="7859312" cy="369229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4287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489B04-4BB8-4282-B7A0-1705A3C76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24872"/>
            <a:ext cx="10353762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Durata film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A946935-57A3-D5A3-0BC9-D1F6EE75A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603" y="1284099"/>
            <a:ext cx="10188143" cy="5216117"/>
          </a:xfrm>
        </p:spPr>
      </p:pic>
    </p:spTree>
    <p:extLst>
      <p:ext uri="{BB962C8B-B14F-4D97-AF65-F5344CB8AC3E}">
        <p14:creationId xmlns:p14="http://schemas.microsoft.com/office/powerpoint/2010/main" val="1888836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AA54B5-1DE6-DC09-4E02-5D2E215B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54" y="280276"/>
            <a:ext cx="10732691" cy="978538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Verdana" panose="020B0604030504040204" pitchFamily="34" charset="0"/>
                <a:ea typeface="Verdana" panose="020B0604030504040204" pitchFamily="34" charset="0"/>
              </a:rPr>
              <a:t>…togliendo qualche outlier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822994C-606D-D845-25B3-5074D5BFC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91" y="1258814"/>
            <a:ext cx="10239617" cy="5242471"/>
          </a:xfrm>
        </p:spPr>
      </p:pic>
    </p:spTree>
    <p:extLst>
      <p:ext uri="{BB962C8B-B14F-4D97-AF65-F5344CB8AC3E}">
        <p14:creationId xmlns:p14="http://schemas.microsoft.com/office/powerpoint/2010/main" val="1297573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9BD6C9-9D54-D90F-B720-5FA15356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63609"/>
            <a:ext cx="10353762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Durata serie tv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AF8DE26-0763-4BAB-D6C5-606A00E35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60" y="1069804"/>
            <a:ext cx="10625031" cy="5439799"/>
          </a:xfrm>
        </p:spPr>
      </p:pic>
    </p:spTree>
    <p:extLst>
      <p:ext uri="{BB962C8B-B14F-4D97-AF65-F5344CB8AC3E}">
        <p14:creationId xmlns:p14="http://schemas.microsoft.com/office/powerpoint/2010/main" val="1916430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14942655-F73B-2A81-BC51-B8ABD0756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0" y="968721"/>
            <a:ext cx="10663320" cy="545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78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5B5AF84B-AE4B-9DA1-63D8-352E2CD50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23" y="857829"/>
            <a:ext cx="10702954" cy="547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59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3708B4-099D-B9D0-C9A3-38165BAB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118369"/>
            <a:ext cx="10353762" cy="970450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Verdana" panose="020B0604030504040204" pitchFamily="34" charset="0"/>
                <a:ea typeface="Verdana" panose="020B0604030504040204" pitchFamily="34" charset="0"/>
              </a:rPr>
              <a:t>…sempre togliendo qualche outlier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8C393EE-153F-3F4B-1AC6-D8E39C512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39" y="976545"/>
            <a:ext cx="10716722" cy="5486738"/>
          </a:xfrm>
        </p:spPr>
      </p:pic>
    </p:spTree>
    <p:extLst>
      <p:ext uri="{BB962C8B-B14F-4D97-AF65-F5344CB8AC3E}">
        <p14:creationId xmlns:p14="http://schemas.microsoft.com/office/powerpoint/2010/main" val="3918173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D25F8D3-446D-4B29-C7CC-A48FAE987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930" y="941033"/>
            <a:ext cx="10740139" cy="549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30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17BCFE30-ECAC-EF9C-6220-6C0512F40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89" y="1074198"/>
            <a:ext cx="10535021" cy="539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46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790A2A-B053-90C9-D40C-18B8EBA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8291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lgerian" panose="04020705040A02060702" pitchFamily="82" charset="0"/>
              </a:rPr>
              <a:t>Anno di pubblicazione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dirty="0">
                <a:latin typeface="Algerian" panose="04020705040A02060702" pitchFamily="82" charset="0"/>
              </a:rPr>
              <a:t>film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FB2778FA-FCB9-83C5-F474-17C784923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04" y="1432090"/>
            <a:ext cx="10114944" cy="5178641"/>
          </a:xfrm>
        </p:spPr>
      </p:pic>
    </p:spTree>
    <p:extLst>
      <p:ext uri="{BB962C8B-B14F-4D97-AF65-F5344CB8AC3E}">
        <p14:creationId xmlns:p14="http://schemas.microsoft.com/office/powerpoint/2010/main" val="199952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790A2A-B053-90C9-D40C-18B8EBA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227118"/>
            <a:ext cx="10353762" cy="970450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Verdana" panose="020B0604030504040204" pitchFamily="34" charset="0"/>
                <a:ea typeface="Verdana" panose="020B0604030504040204" pitchFamily="34" charset="0"/>
              </a:rPr>
              <a:t>Focus sul periodo più recente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F1625B40-93C8-CC76-07E2-9E5C759CD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53" y="1288741"/>
            <a:ext cx="10434293" cy="5342141"/>
          </a:xfrm>
        </p:spPr>
      </p:pic>
    </p:spTree>
    <p:extLst>
      <p:ext uri="{BB962C8B-B14F-4D97-AF65-F5344CB8AC3E}">
        <p14:creationId xmlns:p14="http://schemas.microsoft.com/office/powerpoint/2010/main" val="1991181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790A2A-B053-90C9-D40C-18B8EBA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18291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it-IT" dirty="0">
                <a:latin typeface="Algerian" panose="04020705040A02060702" pitchFamily="82" charset="0"/>
              </a:rPr>
              <a:t>Anno di pubblicazione</a:t>
            </a:r>
            <a:br>
              <a:rPr lang="it-IT" dirty="0">
                <a:latin typeface="Algerian" panose="04020705040A02060702" pitchFamily="82" charset="0"/>
              </a:rPr>
            </a:br>
            <a:r>
              <a:rPr lang="it-IT" dirty="0">
                <a:latin typeface="Algerian" panose="04020705040A02060702" pitchFamily="82" charset="0"/>
              </a:rPr>
              <a:t>serie tv</a:t>
            </a:r>
          </a:p>
        </p:txBody>
      </p:sp>
      <p:pic>
        <p:nvPicPr>
          <p:cNvPr id="7" name="Segnaposto contenuto 6" descr="Immagine che contiene tavolo&#10;&#10;Descrizione generata automaticamente">
            <a:extLst>
              <a:ext uri="{FF2B5EF4-FFF2-40B4-BE49-F238E27FC236}">
                <a16:creationId xmlns:a16="http://schemas.microsoft.com/office/drawing/2014/main" id="{A076BE91-040F-9B06-A1FA-175F7970F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16" y="1411701"/>
            <a:ext cx="10154768" cy="5199030"/>
          </a:xfrm>
        </p:spPr>
      </p:pic>
    </p:spTree>
    <p:extLst>
      <p:ext uri="{BB962C8B-B14F-4D97-AF65-F5344CB8AC3E}">
        <p14:creationId xmlns:p14="http://schemas.microsoft.com/office/powerpoint/2010/main" val="2278207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790A2A-B053-90C9-D40C-18B8EBAC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261891"/>
            <a:ext cx="10353762" cy="970450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Verdana" panose="020B0604030504040204" pitchFamily="34" charset="0"/>
                <a:ea typeface="Verdana" panose="020B0604030504040204" pitchFamily="34" charset="0"/>
              </a:rPr>
              <a:t>Focus sul periodo più recente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0F6DCBD-1724-C0A9-797E-D31405C5E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02" y="1380477"/>
            <a:ext cx="10187195" cy="5215632"/>
          </a:xfrm>
        </p:spPr>
      </p:pic>
    </p:spTree>
    <p:extLst>
      <p:ext uri="{BB962C8B-B14F-4D97-AF65-F5344CB8AC3E}">
        <p14:creationId xmlns:p14="http://schemas.microsoft.com/office/powerpoint/2010/main" val="336632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BC8152-A418-5AE1-685F-43ECBB41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81126"/>
            <a:ext cx="10353762" cy="970450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Algerian" panose="04020705040A02060702" pitchFamily="82" charset="0"/>
              </a:rPr>
              <a:t>E la qualità?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F9E269F-CC43-E45F-4613-513DB294B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184" y="1439000"/>
            <a:ext cx="7490984" cy="4993990"/>
          </a:xfrm>
        </p:spPr>
      </p:pic>
    </p:spTree>
    <p:extLst>
      <p:ext uri="{BB962C8B-B14F-4D97-AF65-F5344CB8AC3E}">
        <p14:creationId xmlns:p14="http://schemas.microsoft.com/office/powerpoint/2010/main" val="2624757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E3F121-A0C8-3FD4-AC07-8BDFCDB7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1227"/>
            <a:ext cx="10353762" cy="970450"/>
          </a:xfrm>
        </p:spPr>
        <p:txBody>
          <a:bodyPr>
            <a:normAutofit/>
          </a:bodyPr>
          <a:lstStyle/>
          <a:p>
            <a:r>
              <a:rPr lang="it-IT" dirty="0">
                <a:latin typeface="Algerian" panose="04020705040A02060702" pitchFamily="82" charset="0"/>
              </a:rPr>
              <a:t>Qualità dei film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AA0C476F-7229-BE85-E78D-A4F2E5641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171677"/>
            <a:ext cx="10364410" cy="5306362"/>
          </a:xfrm>
        </p:spPr>
      </p:pic>
    </p:spTree>
    <p:extLst>
      <p:ext uri="{BB962C8B-B14F-4D97-AF65-F5344CB8AC3E}">
        <p14:creationId xmlns:p14="http://schemas.microsoft.com/office/powerpoint/2010/main" val="511999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E3F121-A0C8-3FD4-AC07-8BDFCDB7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27860"/>
            <a:ext cx="10353762" cy="970450"/>
          </a:xfrm>
        </p:spPr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Qualità delle serie tv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99D15A3-325C-D4DF-5DDA-4EECDCF5E8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47" y="1198310"/>
            <a:ext cx="10364410" cy="5306363"/>
          </a:xfrm>
        </p:spPr>
      </p:pic>
    </p:spTree>
    <p:extLst>
      <p:ext uri="{BB962C8B-B14F-4D97-AF65-F5344CB8AC3E}">
        <p14:creationId xmlns:p14="http://schemas.microsoft.com/office/powerpoint/2010/main" val="3032313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D9F2BF-16DB-5D9F-2945-BFE0B0E1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Algerian" panose="04020705040A02060702" pitchFamily="82" charset="0"/>
              </a:rPr>
              <a:t>Confronto della qualità media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15504AE8-C3AD-DA48-DB05-AC19AA7A4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25553"/>
              </p:ext>
            </p:extLst>
          </p:nvPr>
        </p:nvGraphicFramePr>
        <p:xfrm>
          <a:off x="2070715" y="1909513"/>
          <a:ext cx="8050569" cy="3976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83523">
                  <a:extLst>
                    <a:ext uri="{9D8B030D-6E8A-4147-A177-3AD203B41FA5}">
                      <a16:colId xmlns:a16="http://schemas.microsoft.com/office/drawing/2014/main" val="1353094339"/>
                    </a:ext>
                  </a:extLst>
                </a:gridCol>
                <a:gridCol w="2683523">
                  <a:extLst>
                    <a:ext uri="{9D8B030D-6E8A-4147-A177-3AD203B41FA5}">
                      <a16:colId xmlns:a16="http://schemas.microsoft.com/office/drawing/2014/main" val="1553513759"/>
                    </a:ext>
                  </a:extLst>
                </a:gridCol>
                <a:gridCol w="2683523">
                  <a:extLst>
                    <a:ext uri="{9D8B030D-6E8A-4147-A177-3AD203B41FA5}">
                      <a16:colId xmlns:a16="http://schemas.microsoft.com/office/drawing/2014/main" val="1996706791"/>
                    </a:ext>
                  </a:extLst>
                </a:gridCol>
              </a:tblGrid>
              <a:tr h="994095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 dirty="0"/>
                        <a:t>Serie tv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76869"/>
                  </a:ext>
                </a:extLst>
              </a:tr>
              <a:tr h="994095">
                <a:tc>
                  <a:txBody>
                    <a:bodyPr/>
                    <a:lstStyle/>
                    <a:p>
                      <a:r>
                        <a:rPr lang="it-IT" sz="2400" dirty="0"/>
                        <a:t>Netflix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dirty="0"/>
                        <a:t>6,23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dirty="0">
                          <a:highlight>
                            <a:srgbClr val="FFFF00"/>
                          </a:highlight>
                        </a:rPr>
                        <a:t>6,99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409438"/>
                  </a:ext>
                </a:extLst>
              </a:tr>
              <a:tr h="994095">
                <a:tc>
                  <a:txBody>
                    <a:bodyPr/>
                    <a:lstStyle/>
                    <a:p>
                      <a:r>
                        <a:rPr lang="it-IT" sz="2400" dirty="0"/>
                        <a:t>Prime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dirty="0"/>
                        <a:t>5,93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dirty="0"/>
                        <a:t>6,98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427104"/>
                  </a:ext>
                </a:extLst>
              </a:tr>
              <a:tr h="994095">
                <a:tc>
                  <a:txBody>
                    <a:bodyPr/>
                    <a:lstStyle/>
                    <a:p>
                      <a:r>
                        <a:rPr lang="it-IT" sz="2400" dirty="0"/>
                        <a:t>Disney+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dirty="0">
                          <a:highlight>
                            <a:srgbClr val="FFFF00"/>
                          </a:highlight>
                        </a:rPr>
                        <a:t>6,53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dirty="0"/>
                        <a:t>6,90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924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31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A84D21-A522-8215-F41C-4D150E13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49" y="2095130"/>
            <a:ext cx="11039102" cy="1633316"/>
          </a:xfrm>
        </p:spPr>
        <p:txBody>
          <a:bodyPr>
            <a:normAutofit/>
          </a:bodyPr>
          <a:lstStyle/>
          <a:p>
            <a:r>
              <a:rPr lang="it-IT" sz="5400" dirty="0">
                <a:latin typeface="Algerian" panose="04020705040A02060702" pitchFamily="82" charset="0"/>
              </a:rPr>
              <a:t>Grazie per l’ascolto!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6E9434-73F2-1DA6-734B-70EE67332F22}"/>
              </a:ext>
            </a:extLst>
          </p:cNvPr>
          <p:cNvSpPr txBox="1"/>
          <p:nvPr/>
        </p:nvSpPr>
        <p:spPr>
          <a:xfrm>
            <a:off x="2829017" y="3543780"/>
            <a:ext cx="653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Codice e presentazione sul mio GitHub: ilTella</a:t>
            </a:r>
          </a:p>
        </p:txBody>
      </p:sp>
    </p:spTree>
    <p:extLst>
      <p:ext uri="{BB962C8B-B14F-4D97-AF65-F5344CB8AC3E}">
        <p14:creationId xmlns:p14="http://schemas.microsoft.com/office/powerpoint/2010/main" val="26131421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esia">
  <a:themeElements>
    <a:clrScheme name="Arde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e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e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TM04033929[[fn=Ardesia]]</Template>
  <TotalTime>2865</TotalTime>
  <Words>394</Words>
  <Application>Microsoft Office PowerPoint</Application>
  <PresentationFormat>Widescreen</PresentationFormat>
  <Paragraphs>169</Paragraphs>
  <Slides>30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6" baseType="lpstr">
      <vt:lpstr>Algerian</vt:lpstr>
      <vt:lpstr>Calibri</vt:lpstr>
      <vt:lpstr>Calisto MT</vt:lpstr>
      <vt:lpstr>Verdana</vt:lpstr>
      <vt:lpstr>Wingdings 2</vt:lpstr>
      <vt:lpstr>Ardesia</vt:lpstr>
      <vt:lpstr>Streaming wars guerra all’ultimo iscritto</vt:lpstr>
      <vt:lpstr>domanda:</vt:lpstr>
      <vt:lpstr>Un’industria da miliardi di dollari!</vt:lpstr>
      <vt:lpstr>Chi sono i protagonisti?</vt:lpstr>
      <vt:lpstr>Parliamo di quantità!</vt:lpstr>
      <vt:lpstr>Quale servizio ha più offerta?</vt:lpstr>
      <vt:lpstr>…e quale ha un’offerta più esclusiva?</vt:lpstr>
      <vt:lpstr>Che genere di contenuti offrono?</vt:lpstr>
      <vt:lpstr>Netflix</vt:lpstr>
      <vt:lpstr>Amazon Prime video</vt:lpstr>
      <vt:lpstr>Disney+</vt:lpstr>
      <vt:lpstr>Differenze in punti percentuale</vt:lpstr>
      <vt:lpstr>Tempi e tempistiche</vt:lpstr>
      <vt:lpstr>Durata film</vt:lpstr>
      <vt:lpstr>…togliendo qualche outlier</vt:lpstr>
      <vt:lpstr>Durata serie tv</vt:lpstr>
      <vt:lpstr>Presentazione standard di PowerPoint</vt:lpstr>
      <vt:lpstr>Presentazione standard di PowerPoint</vt:lpstr>
      <vt:lpstr>…sempre togliendo qualche outlier</vt:lpstr>
      <vt:lpstr>Presentazione standard di PowerPoint</vt:lpstr>
      <vt:lpstr>Presentazione standard di PowerPoint</vt:lpstr>
      <vt:lpstr>Anno di pubblicazione film</vt:lpstr>
      <vt:lpstr>Focus sul periodo più recente</vt:lpstr>
      <vt:lpstr>Anno di pubblicazione serie tv</vt:lpstr>
      <vt:lpstr>Focus sul periodo più recente</vt:lpstr>
      <vt:lpstr>E la qualità?</vt:lpstr>
      <vt:lpstr>Qualità dei film</vt:lpstr>
      <vt:lpstr>Qualità delle serie tv</vt:lpstr>
      <vt:lpstr>Confronto della qualità media</vt:lpstr>
      <vt:lpstr>Grazie per l’ascolto!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Tellarini</dc:creator>
  <cp:lastModifiedBy>Alessandro Tellarini</cp:lastModifiedBy>
  <cp:revision>31</cp:revision>
  <dcterms:created xsi:type="dcterms:W3CDTF">2022-05-25T16:18:14Z</dcterms:created>
  <dcterms:modified xsi:type="dcterms:W3CDTF">2022-05-31T20:34:52Z</dcterms:modified>
</cp:coreProperties>
</file>